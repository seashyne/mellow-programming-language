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231fd82d044669" /><Relationship Type="http://schemas.openxmlformats.org/officeDocument/2006/relationships/extended-properties" Target="/docProps/app.xml" Id="Rdf88646328f944a0" /><Relationship Type="http://schemas.openxmlformats.org/officeDocument/2006/relationships/officeDocument" Target="/ppt/presentation.xml" Id="R01c52076d97249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a97ee7e86c4da1"/>
  </p:sldMasterIdLst>
  <p:notesMasterIdLst>
    <p:notesMasterId xmlns:r="http://schemas.openxmlformats.org/officeDocument/2006/relationships" r:id="Rd8978821f4074c1e"/>
  </p:notesMasterIdLst>
  <p:sldIdLst>
    <p:sldId xmlns:r="http://schemas.openxmlformats.org/officeDocument/2006/relationships" id="256" r:id="R8c22995abd264d6c"/>
    <p:sldId xmlns:r="http://schemas.openxmlformats.org/officeDocument/2006/relationships" id="257" r:id="R90420eec904d40c4"/>
    <p:sldId xmlns:r="http://schemas.openxmlformats.org/officeDocument/2006/relationships" id="258" r:id="R3887b275ef5342b8"/>
    <p:sldId xmlns:r="http://schemas.openxmlformats.org/officeDocument/2006/relationships" id="259" r:id="R1c2e90085d7741c7"/>
    <p:sldId xmlns:r="http://schemas.openxmlformats.org/officeDocument/2006/relationships" id="260" r:id="R1e4468a7af6745bc"/>
    <p:sldId xmlns:r="http://schemas.openxmlformats.org/officeDocument/2006/relationships" id="261" r:id="R5514840c0f8b4745"/>
    <p:sldId xmlns:r="http://schemas.openxmlformats.org/officeDocument/2006/relationships" id="262" r:id="R6a9de6ee3c484afa"/>
    <p:sldId xmlns:r="http://schemas.openxmlformats.org/officeDocument/2006/relationships" id="263" r:id="R019360e47d574b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676309f42c4f23" /><Relationship Type="http://schemas.openxmlformats.org/officeDocument/2006/relationships/slideMaster" Target="/ppt/slideMasters/slideMaster1.xml" Id="Re9a97ee7e86c4da1" /><Relationship Type="http://schemas.openxmlformats.org/officeDocument/2006/relationships/notesMaster" Target="/ppt/notesMasters/notesMaster1.xml" Id="Rd8978821f4074c1e" /><Relationship Type="http://schemas.openxmlformats.org/officeDocument/2006/relationships/presProps" Target="/ppt/presProps.xml" Id="Reffa956af63c4b9c" /><Relationship Type="http://schemas.openxmlformats.org/officeDocument/2006/relationships/viewProps" Target="/ppt/viewProps.xml" Id="Re1967d493fe14b8d" /><Relationship Type="http://schemas.openxmlformats.org/officeDocument/2006/relationships/tableStyles" Target="/ppt/tableStyles.xml" Id="R74f3bda9ce5342c9" /><Relationship Type="http://schemas.openxmlformats.org/officeDocument/2006/relationships/slide" Target="/ppt/slides/slide1.xml" Id="R8c22995abd264d6c" /><Relationship Type="http://schemas.openxmlformats.org/officeDocument/2006/relationships/slide" Target="/ppt/slides/slide2.xml" Id="R90420eec904d40c4" /><Relationship Type="http://schemas.openxmlformats.org/officeDocument/2006/relationships/slide" Target="/ppt/slides/slide3.xml" Id="R3887b275ef5342b8" /><Relationship Type="http://schemas.openxmlformats.org/officeDocument/2006/relationships/slide" Target="/ppt/slides/slide4.xml" Id="R1c2e90085d7741c7" /><Relationship Type="http://schemas.openxmlformats.org/officeDocument/2006/relationships/slide" Target="/ppt/slides/slide5.xml" Id="R1e4468a7af6745bc" /><Relationship Type="http://schemas.openxmlformats.org/officeDocument/2006/relationships/slide" Target="/ppt/slides/slide6.xml" Id="R5514840c0f8b4745" /><Relationship Type="http://schemas.openxmlformats.org/officeDocument/2006/relationships/slide" Target="/ppt/slides/slide7.xml" Id="R6a9de6ee3c484afa" /><Relationship Type="http://schemas.openxmlformats.org/officeDocument/2006/relationships/slide" Target="/ppt/slides/slide8.xml" Id="R019360e47d574b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f3fde52a5d4a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03b5c1de99488d" /><Relationship Type="http://schemas.openxmlformats.org/officeDocument/2006/relationships/notesMaster" Target="/ppt/notesMasters/notesMaster1.xml" Id="Rc5d7cc39555b46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b64235767c47a8" /><Relationship Type="http://schemas.openxmlformats.org/officeDocument/2006/relationships/notesMaster" Target="/ppt/notesMasters/notesMaster1.xml" Id="Ra1fa836f2e5b43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aad64f2d149fa" /><Relationship Type="http://schemas.openxmlformats.org/officeDocument/2006/relationships/notesMaster" Target="/ppt/notesMasters/notesMaster1.xml" Id="R07a351cf78d84f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7a11660d0d47ec" /><Relationship Type="http://schemas.openxmlformats.org/officeDocument/2006/relationships/notesMaster" Target="/ppt/notesMasters/notesMaster1.xml" Id="R85a08267354445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132fa7483b498c" /><Relationship Type="http://schemas.openxmlformats.org/officeDocument/2006/relationships/notesMaster" Target="/ppt/notesMasters/notesMaster1.xml" Id="R25a47667754848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b864ec58b9473c" /><Relationship Type="http://schemas.openxmlformats.org/officeDocument/2006/relationships/notesMaster" Target="/ppt/notesMasters/notesMaster1.xml" Id="Rb7345a5c416f47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5ef19d10bc4dc8" /><Relationship Type="http://schemas.openxmlformats.org/officeDocument/2006/relationships/notesMaster" Target="/ppt/notesMasters/notesMaster1.xml" Id="R4d719a89906b41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8650b8761a424b" /><Relationship Type="http://schemas.openxmlformats.org/officeDocument/2006/relationships/notesMaster" Target="/ppt/notesMasters/notesMaster1.xml" Id="R9a461b74e3174e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f612809ec4f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64400f83c94cc4" /><Relationship Type="http://schemas.openxmlformats.org/officeDocument/2006/relationships/slideLayout" Target="/ppt/slideLayouts/slideLayout1.xml" Id="R6f68e37390bd4b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68e37390bd4b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1b254bbf44e6a" /><Relationship Type="http://schemas.openxmlformats.org/officeDocument/2006/relationships/notesSlide" Target="/ppt/notesSlides/notesSlide1.xml" Id="R8383663548b547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9b0fbd343426b" /><Relationship Type="http://schemas.openxmlformats.org/officeDocument/2006/relationships/notesSlide" Target="/ppt/notesSlides/notesSlide2.xml" Id="R1df1567d724a43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c8c960017450e" /><Relationship Type="http://schemas.openxmlformats.org/officeDocument/2006/relationships/notesSlide" Target="/ppt/notesSlides/notesSlide3.xml" Id="R1c6b62069ad243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5d00ef2f64eff" /><Relationship Type="http://schemas.openxmlformats.org/officeDocument/2006/relationships/notesSlide" Target="/ppt/notesSlides/notesSlide4.xml" Id="R870d73ea01aa44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e2a2d8fe5415e" /><Relationship Type="http://schemas.openxmlformats.org/officeDocument/2006/relationships/notesSlide" Target="/ppt/notesSlides/notesSlide5.xml" Id="R7e752ece56a64c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2763f85ef4e50" /><Relationship Type="http://schemas.openxmlformats.org/officeDocument/2006/relationships/notesSlide" Target="/ppt/notesSlides/notesSlide6.xml" Id="Re453bcd044f944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12063dab24d80" /><Relationship Type="http://schemas.openxmlformats.org/officeDocument/2006/relationships/notesSlide" Target="/ppt/notesSlides/notesSlide7.xml" Id="R77e7384b9fe847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2720a255f4afb" /><Relationship Type="http://schemas.openxmlformats.org/officeDocument/2006/relationships/notesSlide" Target="/ppt/notesSlides/notesSlide8.xml" Id="Rd8290b65a21443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CEC89C-7D76-4E99-A715-9742B8E4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46BEF246-5962-4CFB-9816-835D6F58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AEEEFDBA-6FEB-46DD-862F-E2EFB5F0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RELEASE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E4B4F-7CCC-4BCB-9AB6-2DCC3791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rPr>
              <a:t>Native C is ready to lead Mellow's stable runtime.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737FD-1461-428E-A104-3D88AF7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4B2A9-56BC-4851-9152-C20D6C9E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7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7BA"/>
                </a:solidFill>
                <a:latin typeface="Aptos"/>
                <a:ea typeface="Aptos"/>
                <a:cs typeface="Aptos"/>
              </a:rPr>
              <a:t>Mellow 2.8.0  |  repeated local benchmark  |  2026-06-14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3731E-4D99-481A-AFCC-972BB70D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769A8-A01D-43EE-B8BC-449B27B6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52625"/>
            <a:ext cx="6762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D6D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FD6D7"/>
                </a:solidFill>
                <a:latin typeface="Aptos"/>
                <a:ea typeface="Aptos"/>
                <a:cs typeface="Aptos"/>
              </a:rPr>
              <a:t>Default-C routing now has a green cross-version gate and measurable gains where VM dispatch dominates.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8BF9F-0CC5-4CB9-83D0-93670E9B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ECE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9ECE5"/>
                </a:solidFill>
                <a:latin typeface="Aptos Display"/>
                <a:ea typeface="Aptos Display"/>
                <a:cs typeface="Aptos Display"/>
              </a:rPr>
              <a:t>42 /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8F04B-90BA-4796-8070-27F37E1B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CI test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0C2D4-DE8B-4F6B-885D-34431B29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A"/>
                </a:solidFill>
                <a:latin typeface="Aptos"/>
                <a:ea typeface="Aptos"/>
                <a:cs typeface="Aptos"/>
              </a:rPr>
              <a:t>Python 3.11, 3.12 and 3.13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6B1CE-9461-4E4D-BC9C-F85A2970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ECE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9ECE5"/>
                </a:solidFill>
                <a:latin typeface="Aptos Display"/>
                <a:ea typeface="Aptos Display"/>
                <a:cs typeface="Aptos Display"/>
              </a:rPr>
              <a:t>17.2x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51B0D-4E91-4F24-AF99-BC319EF8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71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Arithmetic speedup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952D5-555D-4EC7-A2EC-8A52FDAD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767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A"/>
                </a:solidFill>
                <a:latin typeface="Aptos"/>
                <a:ea typeface="Aptos"/>
                <a:cs typeface="Aptos"/>
              </a:rPr>
              <a:t>20,000 loop iterations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EE738-2FD2-44C9-960A-E1391D06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9ECE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9ECE5"/>
                </a:solidFill>
                <a:latin typeface="Aptos Display"/>
                <a:ea typeface="Aptos Display"/>
                <a:cs typeface="Aptos Display"/>
              </a:rPr>
              <a:t>10.1M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DD666-9CB7-45FD-9EC1-E1D168D0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71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Transform rows/s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78887-940C-4025-B3AA-A9C1F880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7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7BA"/>
                </a:solidFill>
                <a:latin typeface="Aptos"/>
                <a:ea typeface="Aptos"/>
                <a:cs typeface="Aptos"/>
              </a:rPr>
              <a:t>250,000 rows processed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F6AD4-CB13-4D39-9BC6-5B75BC52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2362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C9B082-331B-45C1-98D7-B6243E1B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DEFAULT ROUTE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D376D-F18F-4F93-A8A9-E07ED2F0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052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Mellow</a:t>
            </a:r>
          </a:p>
          <a:p xmlns:a="http://schemas.openxmlformats.org/drawingml/2006/main">
            <a:pPr algn="l">
              <a:defRPr sz="2100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→ native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E7FF0-AA23-450B-820B-9E0177D4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67200"/>
            <a:ext cx="190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0B4B6-8ED7-43BC-B409-00084DAD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B1A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B1A7"/>
                </a:solidFill>
                <a:latin typeface="Aptos"/>
                <a:ea typeface="Aptos"/>
                <a:cs typeface="Aptos"/>
              </a:rPr>
              <a:t>Unsupported path</a:t>
            </a:r>
          </a:p>
          <a:p xmlns:a="http://schemas.openxmlformats.org/drawingml/2006/main">
            <a:pPr algn="l">
              <a:defRPr sz="1125" b="0">
                <a:solidFill>
                  <a:srgbClr val="D8B1A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B1A7"/>
                </a:solidFill>
                <a:latin typeface="Aptos"/>
                <a:ea typeface="Aptos"/>
                <a:cs typeface="Aptos"/>
              </a:rPr>
              <a:t>→ Python fallback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8CA88-F878-4937-A31F-3F13233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AA046-252E-4541-A2F3-7A8E958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43550"/>
            <a:ext cx="822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Claim scope: stable core, money, data and ledger workloads. This is not a whole-language parity claim.</a:t>
            </a:r>
          </a:p>
        </p:txBody>
      </p:sp>
    </p:spTree>
    <p:extLst>
      <p:ext uri="{BB962C8B-B14F-4D97-AF65-F5344CB8AC3E}">
        <p14:creationId xmlns:p14="http://schemas.microsoft.com/office/powerpoint/2010/main" val="10739695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ED9B27-CB82-422A-94E1-D4EAB208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2751E476-4933-4973-AF14-8621A64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466032B-C00E-4186-AFD1-ACD93B1C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RELEASE CONFIDENCE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CB4BB-4FAF-49CC-82A4-85C09419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The release gate is green across supported Python versions.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70AAB-5DED-407B-B3F4-68AE1138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9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2D9CA-A5AE-4E1A-800B-5B41379B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Mellow 2.8.0  |  repeated local benchmark  |  2026-06-14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CDE28-EBEF-4FB2-9EBF-70F5DF30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1A39B-D006-4E71-9CB8-A4F08F66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Core semantics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C07A5-55BF-4DC8-8492-213BE74D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02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6542A-34D1-4AD2-99B2-E5965119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02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96372-6568-41AF-9BBA-94FB210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526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21 / 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6AD3D-8646-4014-A75C-65C3FEFC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Native parity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A5461-DF45-4724-9869-D111C6DD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41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B3546-F167-4B9B-B3E3-F8DF414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41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3C008-115B-4104-9CFB-C7BC0C6E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765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14 / 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E2C33-FB75-415D-AD9B-5FBF97DA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UI framework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68EC3-292A-4391-916E-FB158EAD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480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C9A5F-1A6A-41CA-B57E-F3ABB352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480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BC29D-5562-475A-9B9D-1BFDEC60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7 / 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0C97A-6DA9-42FB-9F1C-13A2A6FE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Runtime contract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D6F21-0008-45D6-A0C1-1150AE0F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719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0E3FB4-ECCF-4554-90C0-A0DD871C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719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952CA-EBD9-410E-A4A1-90B954F8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24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7 / 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0CE566-ECB2-41EF-9E8F-42646C0C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381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9CFD9-F78C-43DC-9C0E-7A314D86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431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23893-2C25-4D89-B0E2-77922635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95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C4B88-2364-434D-85A7-C371FC29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Python 3.11  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F64557-EFCC-4B0C-99F9-31D0B055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86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426CBB-9106-42A3-BB9B-18D4920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909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Python 3.12  PASS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4EB3C-B533-422E-ACDF-63BCBD96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767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BC1FA2-B6F7-4B8C-8DE2-86DE4AB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814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Python 3.13 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CDF448-3921-4934-9E0D-7CAECDD5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1EBDDC-3E8A-48D1-9FE4-55009AAF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0229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CI failure in the screenshots was packaging-only: direct setup.py execution lacked setuptools on 3.12/3.13. PEP 517 installation now builds and verifies the extension.</a:t>
            </a:r>
          </a:p>
        </p:txBody>
      </p:sp>
    </p:spTree>
    <p:extLst>
      <p:ext uri="{BB962C8B-B14F-4D97-AF65-F5344CB8AC3E}">
        <p14:creationId xmlns:p14="http://schemas.microsoft.com/office/powerpoint/2010/main" val="9492331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9A323-CF77-44D7-A129-87CFEA5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95165888-FC4D-416D-966B-F29C1D31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B11EDE3F-CCE2-48CF-B288-34988B26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RUNTIME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2D0FB-B973-43C4-A342-B1001CA2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Native wins most where every operation crosses the VM dispatch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5B9D1-7694-426D-AF2E-72CE7487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9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66F5C-B3B4-498E-907E-EB559FB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Mellow 2.8.0  |  repeated local benchmark  |  2026-06-14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2EEAE-8104-4602-804B-00E963A2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77325-13CF-4221-BFA3-FCAC05E0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Arithmetic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43C57-FE57-4E80-A7DE-C073E534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05025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951F6-78DC-4651-A740-49554723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05025"/>
            <a:ext cx="49030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D168B-A3EF-4408-8748-7CBA13A5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17.2x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1951F-F9CA-4595-895E-5BB8017E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Function 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18D3C-2236-4C7E-ADEE-D6E05E85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33675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024DD-DC83-44D9-8494-B58EABF2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33675"/>
            <a:ext cx="447353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71154-D121-4919-AFAB-C8AAC57C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15.7x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2DD53-C4E6-4001-AD10-62CE9AAC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Data transform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79AAE2-7F45-4DBD-A87E-80333D8D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62325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1FB1D9-DB6C-4522-ABB1-916DB01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62325"/>
            <a:ext cx="118283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2803E-B857-42F3-87C0-1A533FAE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4.14x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6492A-5AEA-46ED-8CF9-D1084861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Money addition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E2A1B-9BA0-45A0-ABC3-B39B2914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90975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30851E-C982-41AE-AA41-172458C6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90975"/>
            <a:ext cx="95589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25D5E-2875-4908-9CDD-6C2052CF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3.35x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95671-FE97-4602-BD8E-9F472C6A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Ledger posting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4DED11-6555-406B-8F7A-440CF36D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19625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48F0B2-5E62-4397-87FD-F7FC15FE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19625"/>
            <a:ext cx="32389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B903C-5764-4BA1-8080-B437ED24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1.13x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3ADC5A-6F86-4CFC-B167-9858F423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292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1x baseline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C1D871-37B1-43D7-9500-41EB9EB2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76900"/>
            <a:ext cx="95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D3C5C4-CDF6-44E3-A71A-221A69EA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4C633-7A30-487E-89E5-D929299E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71700"/>
            <a:ext cx="1771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Dispatch-heavy code benefits most. Host-bound ledger work leaves less interpreter overhead to remove.</a:t>
            </a:r>
          </a:p>
        </p:txBody>
      </p:sp>
    </p:spTree>
    <p:extLst>
      <p:ext uri="{BB962C8B-B14F-4D97-AF65-F5344CB8AC3E}">
        <p14:creationId xmlns:p14="http://schemas.microsoft.com/office/powerpoint/2010/main" val="19964964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2E9A19-3798-496B-92D6-C6AADB17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B0BD979A-E649-4086-92EE-03EDD75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C1218AE-2E2C-41B1-8D07-23A5337D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THROUGHPUT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A20D8-9B22-46F6-A8B5-6591D37D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The speedup is real, but its shape depends on the workload.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88EAA-256C-42B9-A7D4-67BD78EB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9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41053-E2D9-48AB-BBF8-43FA5DD5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Mellow 2.8.0  |  repeated local benchmark  |  2026-06-14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23676-7ADE-41C3-AE88-3CCAD359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FE741-6D67-49D0-814E-2E26441E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48087"/>
                </a:solidFill>
                <a:latin typeface="Aptos"/>
                <a:ea typeface="Aptos"/>
                <a:cs typeface="Aptos"/>
              </a:rPr>
              <a:t>WORKLOAD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21624-B640-4179-9B4E-DDFFE10E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76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77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677B8"/>
                </a:solidFill>
                <a:latin typeface="Aptos"/>
                <a:ea typeface="Aptos"/>
                <a:cs typeface="Aptos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4E810-76BD-4AD1-8E48-C6D4AB2A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NATIVE 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6068B-A90E-4004-801C-56BBB5E8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76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48087"/>
                </a:solidFill>
                <a:latin typeface="Aptos"/>
                <a:ea typeface="Aptos"/>
                <a:cs typeface="Aptos"/>
              </a:rPr>
              <a:t>GAIN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32A72-B216-4DB4-BB75-FC9A3FEB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A11AF-D683-4E15-A509-3BF9E653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Arithmetic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7FA9B-1145-481D-B3D3-4C7F8AA4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77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677B8"/>
                </a:solidFill>
                <a:latin typeface="Aptos"/>
                <a:ea typeface="Aptos"/>
                <a:cs typeface="Aptos"/>
              </a:rPr>
              <a:t>59.6K iter/s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ABCAC-88EA-496B-A2EF-B4B13D63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1.02M iter/s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EA71B-21AB-40FD-92E5-16B3A31B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765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17.2x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282E0-21B5-46C8-801D-1D740494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B2E65-4877-4514-87FC-A1CCDD8C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Function calls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450A6-C457-4C2C-AF6F-E92F9387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77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677B8"/>
                </a:solidFill>
                <a:latin typeface="Aptos"/>
                <a:ea typeface="Aptos"/>
                <a:cs typeface="Aptos"/>
              </a:rPr>
              <a:t>29.0K calls/s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6FFD9-0349-4134-B6D8-3D5B846A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453.9K calls/s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67D6D-081F-4E88-98A3-4342AB8B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15.7x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DB208-7D4C-437A-A9CA-07809F85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DB9A10-EA88-4FB7-85FA-24F44773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Money add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B048FF-2F2A-459B-BAF1-E4C4DD6A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77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677B8"/>
                </a:solidFill>
                <a:latin typeface="Aptos"/>
                <a:ea typeface="Aptos"/>
                <a:cs typeface="Aptos"/>
              </a:rPr>
              <a:t>24.4K ops/s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CCC0D-51D6-42EF-B4F9-44204C6A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81.6K ops/s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5450F-8313-4B3A-9002-103228DA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481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3.35x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974700-17C3-47AE-96BF-40754B75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DD625-9B15-4A60-B425-7AEFDD1D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Ledger post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BB655E-F10B-41B9-8770-3E414E65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339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77B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677B8"/>
                </a:solidFill>
                <a:latin typeface="Aptos"/>
                <a:ea typeface="Aptos"/>
                <a:cs typeface="Aptos"/>
              </a:rPr>
              <a:t>1.95K tx/s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533058-99CB-4711-B901-FBA445C4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2.21K tx/s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27BB07-B6B2-41AA-8C33-B34BEDCC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3390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1.13x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19CE44-CE7F-4776-890F-840B170B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8F8688-0032-454A-9577-BBBB15FC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1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Throughput units stay workload-specific. Compare speedup within each row; do not compare calls/s directly with transactions/s.</a:t>
            </a:r>
          </a:p>
        </p:txBody>
      </p:sp>
    </p:spTree>
    <p:extLst>
      <p:ext uri="{BB962C8B-B14F-4D97-AF65-F5344CB8AC3E}">
        <p14:creationId xmlns:p14="http://schemas.microsoft.com/office/powerpoint/2010/main" val="10297121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B935AA-72D6-467C-BB84-3485531B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0B96E642-8C23-4D69-B903-2956A97A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F65CAEA6-2DF0-4601-9B82-718DE64D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DATA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FA028-8A6F-4FB5-87F3-6F2F8094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Native transforms cross 10 million rows per second.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49922-1A64-4919-B88B-C10A12BF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9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F5DA9-EBB8-4088-83CA-D3D1578B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Mellow 2.8.0  |  repeated local benchmark  |  2026-06-14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D17A8-D560-4D8F-89A2-B86ABAAB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A6CB2-0A67-4EB2-82B7-4869BDC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677B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3677B8"/>
                </a:solidFill>
                <a:latin typeface="Aptos Display"/>
                <a:ea typeface="Aptos Display"/>
                <a:cs typeface="Aptos Display"/>
              </a:rPr>
              <a:t>2.45M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C0605-B003-4574-A3B7-C7E27E95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Python 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57350-D6D9-470D-AC88-F575B05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rows/s, median of 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E6CE5-50DE-41DB-8784-97B71D6E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8A6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8A63"/>
                </a:solidFill>
                <a:latin typeface="Aptos Display"/>
                <a:ea typeface="Aptos Display"/>
                <a:cs typeface="Aptos Display"/>
              </a:rPr>
              <a:t>10.13M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13A02-740C-4CDA-9887-E4CA0B64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Native C transform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59ABE-4A7D-484C-9AA4-DAD0A5D7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rows/s, median of 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12AAD2-C1B5-46A6-A994-A4FCBA63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8A6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8A63"/>
                </a:solidFill>
                <a:latin typeface="Aptos Display"/>
                <a:ea typeface="Aptos Display"/>
                <a:cs typeface="Aptos Display"/>
              </a:rPr>
              <a:t>4.14x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68973-01C9-43E8-B325-A570CA2E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Native gain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F51E3-CA88-4D87-B0E4-83CA7E3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1,000 rows × 250 rounds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BDCD1-CEEC-4951-998D-0499BC64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9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6102EA-8D6E-4623-A466-64D8F6A2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48087"/>
                </a:solidFill>
                <a:latin typeface="Aptos"/>
                <a:ea typeface="Aptos"/>
                <a:cs typeface="Aptos"/>
              </a:rPr>
              <a:t>STREAMING 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CFA41-7ABF-4D48-8134-AADB237A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10K 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0043A-77B4-4D2F-97DD-7293EDCA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466K rows/s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2FDB34-A821-47C0-8010-61DAA105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148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100K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F66073-E952-4C78-8B63-E91EB6CD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33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407K rows/s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3A137B-EE38-4F3D-9FC9-283DC5A8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148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1M rows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56A6C-EBEB-4EB7-9535-CE33F1F3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466K rows/s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295EE-6A8B-4937-A5B1-48E6B19E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0D4BF5-E881-4E40-9A4D-062EF932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51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Streaming remains approximately flat as the dataset scales, with 1,000-row batches and median timing across 9 repeats.</a:t>
            </a:r>
          </a:p>
        </p:txBody>
      </p:sp>
    </p:spTree>
    <p:extLst>
      <p:ext uri="{BB962C8B-B14F-4D97-AF65-F5344CB8AC3E}">
        <p14:creationId xmlns:p14="http://schemas.microsoft.com/office/powerpoint/2010/main" val="2767866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6E65A9-7243-4CEB-BD29-28722133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6A8166C0-E0E1-42D2-ABA8-5D4F7112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5BCA487-74A0-4E9D-84C8-28C39011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FFD1A-3061-49ED-89BC-9A580FFF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The remaining latency is increasingly outside the execution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8AB01-761D-4461-A418-954D4AA3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9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9AB03-0969-487A-8BE7-676DCC95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Mellow 2.8.0  |  repeated local benchmark  |  2026-06-14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FE710-A560-479F-AA7F-0FFDBF74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2D3CB-034A-4B24-BE2B-A398F4BF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40.6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4D677-C429-4C81-BBC8-CB67F959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Compile 250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97DBF-92F7-42F7-BC51-123ADCDA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6,150 lines/s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424EB-0D95-4357-9857-ED681F18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85C4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85C41"/>
                </a:solidFill>
                <a:latin typeface="Aptos Display"/>
                <a:ea typeface="Aptos Display"/>
                <a:cs typeface="Aptos Display"/>
              </a:rPr>
              <a:t>329.9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6EDE4-CDE3-4E30-904D-73EC19D2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CLI startup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E45C7-C302-43A4-8704-A107DECD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28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python -m mellowlang --version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16A3B-AA20-49DE-92A2-7F367812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8A63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8A63"/>
                </a:solidFill>
                <a:latin typeface="Aptos Display"/>
                <a:ea typeface="Aptos Display"/>
                <a:cs typeface="Aptos Display"/>
              </a:rPr>
              <a:t>1.13x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1C629-3C15-4980-99F9-9E9A328B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Ledger speedup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732BB-7988-4B28-B46A-0799054E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host work dominates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A5BC5-4550-4DD4-9E7C-D0FF373C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Where the next millisecond lives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D1920-25A3-449F-BAE7-46D2C82D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81CF2-F2BB-4811-AA5B-02AE772D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 + STARTUP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70986-F2ED-428C-8391-14E1D93E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BB060-2362-4A53-99B7-7F651BDA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33925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E2585E-195B-4D02-9241-A0AD0F0A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82E9F-9C7A-455C-A44B-402888EC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33925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NATIVE EXECUTION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62255-EE53-4F83-B6CF-E7AB8FF5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291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80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AF405-D351-4729-A92A-BADC437B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33925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HOST / I/O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02DAD-331E-401C-A210-EE16D78A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816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B05E8-EAB3-4046-A772-09BDEF81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51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Next gains require import reduction, compiler profiling and host API batching—not only a faster opcode loop.</a:t>
            </a:r>
          </a:p>
        </p:txBody>
      </p:sp>
    </p:spTree>
    <p:extLst>
      <p:ext uri="{BB962C8B-B14F-4D97-AF65-F5344CB8AC3E}">
        <p14:creationId xmlns:p14="http://schemas.microsoft.com/office/powerpoint/2010/main" val="20357206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2EB4EC-A58F-413C-A354-DFE44C1A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74CB70C0-7D32-4E3C-98A9-0EF53220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7B85E2A7-15F6-46E2-BE37-B468C7BB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COMPATIBILITY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5AB24-9FA6-4511-9104-ADB41958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Default-C routing keeps compatibility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DC51B-AE61-4FF2-B96B-5A65E68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9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717CD-C775-45BB-A7AA-6E1AFAD6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Mellow 2.8.0  |  repeated local benchmark  |  2026-06-14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C0B2C-C0F0-4BDB-B870-041210C6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78A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8A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D6027-759E-42A0-A647-E40953B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7E080-C359-44AF-A147-4893CDA5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Mellow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976748-8E1F-4D84-A514-4E4EE7D1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7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A7BE7B-542F-4CE2-AA05-DA35C64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81275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Compile to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bytecode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56C38-03B0-484D-9614-2DABA39F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CFE38-8DE7-4555-ABE7-FC3E6FB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81275"/>
            <a:ext cx="1790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Native C VM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C1F23-768A-4AC9-966B-BDE21E73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7480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FBD2B-C707-43AF-AC80-77D37F96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6700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74808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EFC08-0751-42E2-9882-26EB455E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85C4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85C4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970F4-5C5C-47A5-B3EA-878F15A1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43125"/>
            <a:ext cx="2476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C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CEEA8-52E7-4A83-A375-BA40A265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5C4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5C41"/>
                </a:solidFill>
                <a:latin typeface="Aptos"/>
                <a:ea typeface="Aptos"/>
                <a:cs typeface="Aptos"/>
              </a:rPr>
              <a:t>FALLBACK LANE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6C2A2-7F9F-42D3-9B7D-F9F5CF08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2057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Python VM</a:t>
            </a:r>
          </a:p>
          <a:p xmlns:a="http://schemas.openxmlformats.org/drawingml/2006/main">
            <a:pPr algn="l">
              <a:defRPr sz="15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for unsupported paths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5112F-A3C8-43D0-A7D5-2E766FED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C0ADE-3509-4011-87E9-357B489D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Native required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39B00-48A3-450A-8B43-248D0AC3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fail fast if C is unavailable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ABE1A-BF5D-4274-8FF0-CAD41BE6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20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17E0C-49FC-4F69-89D4-06C8CA72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Fallback allowed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742982-2CED-4F81-B004-E8134CD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33925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preserve behavior while parity grows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3449BA-6BA1-4941-A827-489A18F8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F52A2-0866-4BDC-8181-7AA8D9FB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2922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26"/>
                </a:solidFill>
                <a:latin typeface="Aptos"/>
                <a:ea typeface="Aptos"/>
                <a:cs typeface="Aptos"/>
              </a:rPr>
              <a:t>Engine reported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E1BBC5-503C-4E22-BEFE-4F501022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29225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4808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48087"/>
                </a:solidFill>
                <a:latin typeface="Aptos"/>
                <a:ea typeface="Aptos"/>
                <a:cs typeface="Aptos"/>
              </a:rPr>
              <a:t>make routing visible to tooling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87F07-5DCF-45D7-ADD2-DBEE5D1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135A0F-A536-4EE0-A60F-212A39A7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51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26"/>
                </a:solidFill>
                <a:latin typeface="Aptos"/>
                <a:ea typeface="Aptos"/>
                <a:cs typeface="Aptos"/>
              </a:rPr>
              <a:t>The architecture favors honest capability reporting over silent semantic drift.</a:t>
            </a:r>
          </a:p>
        </p:txBody>
      </p:sp>
    </p:spTree>
    <p:extLst>
      <p:ext uri="{BB962C8B-B14F-4D97-AF65-F5344CB8AC3E}">
        <p14:creationId xmlns:p14="http://schemas.microsoft.com/office/powerpoint/2010/main" val="20395225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A7FDB7-4932-410E-86D6-C48A3C4A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DB83B20-4553-4062-B2A8-7A3EAA4F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A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8E8E7E95-4469-4667-92F8-9A564BC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NEXT RELEASE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C711B-A5B6-4E51-84E9-FFB1E47B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1114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6F3EC"/>
                </a:solidFill>
                <a:latin typeface="Aptos Display"/>
                <a:ea typeface="Aptos Display"/>
                <a:cs typeface="Aptos Display"/>
              </a:rPr>
              <a:t>Broaden measurement before broadening the performance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BF6EC-8ED4-4D7F-AA38-74758579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293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50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54A7A-51AD-4A9F-BB4A-3F53D70D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7B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7BA"/>
                </a:solidFill>
                <a:latin typeface="Aptos"/>
                <a:ea typeface="Aptos"/>
                <a:cs typeface="Aptos"/>
              </a:rPr>
              <a:t>Mellow 2.8.0  |  repeated local benchmark  |  2026-06-14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0ABF7-2C63-43C7-8209-B1AFEC46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71D8D-A978-40D5-A7D8-F146E50C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6205C-EA5C-49A6-A5A9-877C0E70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Cold-start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87CE2-32EC-4350-8D27-BE9A395C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764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C5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CC5C7"/>
                </a:solidFill>
                <a:latin typeface="Aptos"/>
                <a:ea typeface="Aptos"/>
                <a:cs typeface="Aptos"/>
              </a:rPr>
              <a:t>Split import, parser, compiler and VM initialization.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21A46-8169-4E3A-831C-246607E1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BDB3E-4357-41FF-B7E3-984C53B9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DA890-C06E-4BBB-9DD8-BC11CD62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14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Representative programs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24B26-E4A5-4EC5-A4A3-07461110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C5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CC5C7"/>
                </a:solidFill>
                <a:latin typeface="Aptos"/>
                <a:ea typeface="Aptos"/>
                <a:cs typeface="Aptos"/>
              </a:rPr>
              <a:t>Add larger files, modules, recursion, errors and mixed host calls.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01A2F-E98D-4EFD-9525-717C0F2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DF79C-D5C2-48FC-B78B-5F9CE47B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BB649-4258-4C0F-AD41-165A3572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Memory + binary size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F92D4-B916-445A-AFE2-FA1B68C1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528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C5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CC5C7"/>
                </a:solidFill>
                <a:latin typeface="Aptos"/>
                <a:ea typeface="Aptos"/>
                <a:cs typeface="Aptos"/>
              </a:rPr>
              <a:t>Track peak RSS, extension size and release artifact size.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C8B3C-A711-4F90-9F73-3D860687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C28A4-F8DE-402F-8488-9DEF9832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EC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ECE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EA421-2817-4A26-992D-C8FAEB49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6F3EC"/>
                </a:solidFill>
                <a:latin typeface="Aptos"/>
                <a:ea typeface="Aptos"/>
                <a:cs typeface="Aptos"/>
              </a:rPr>
              <a:t>Cross-platform 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525AB5-185C-49D1-B889-E04E538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91050"/>
            <a:ext cx="666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C5C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CC5C7"/>
                </a:solidFill>
                <a:latin typeface="Aptos"/>
                <a:ea typeface="Aptos"/>
                <a:cs typeface="Aptos"/>
              </a:rPr>
              <a:t>Benchmark Windows and Linux; add macOS when the native toolchain is ready.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E4E5B0-70AF-4553-8C85-7232A60E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62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D28D9-D187-4CC0-A3A1-C8BBA76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DEAA9-2842-4DE1-B2C2-7D555728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0325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3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3EC"/>
                </a:solidFill>
                <a:latin typeface="Aptos"/>
                <a:ea typeface="Aptos"/>
                <a:cs typeface="Aptos"/>
              </a:rPr>
              <a:t>Release message: native C is the default stable engine; Python remains a deliberate compatibility path.</a:t>
            </a:r>
          </a:p>
        </p:txBody>
      </p:sp>
    </p:spTree>
    <p:extLst>
      <p:ext uri="{BB962C8B-B14F-4D97-AF65-F5344CB8AC3E}">
        <p14:creationId xmlns:p14="http://schemas.microsoft.com/office/powerpoint/2010/main" val="1521590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2026-06-14T03:16:40.9340000Z</dcterms:created>
  <dcterms:modified xsi:type="dcterms:W3CDTF">2026-06-14T03:16:40.9340000Z</dcterms:modified>
</coreProperties>
</file>